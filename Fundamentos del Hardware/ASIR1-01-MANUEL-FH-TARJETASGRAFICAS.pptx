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embeddedFontLst>
    <p:embeddedFont>
      <p:font typeface="JetBrains Mono" panose="020B0604020202020204" charset="0"/>
      <p:regular r:id="rId16"/>
      <p:bold r:id="rId17"/>
      <p:italic r:id="rId18"/>
      <p:boldItalic r:id="rId19"/>
    </p:embeddedFont>
    <p:embeddedFont>
      <p:font typeface="Urbanist" panose="020B060402020202020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C0DE1A1-85BD-4F00-950D-43A124A9BCC1}">
  <a:tblStyle styleId="{AC0DE1A1-85BD-4F00-950D-43A124A9BCC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7" d="100"/>
          <a:sy n="117" d="100"/>
        </p:scale>
        <p:origin x="318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u Arrabal Talavera" userId="0ec3b0767588bd99" providerId="LiveId" clId="{D9D2AC14-1D71-4532-A9D3-E3914A0BE34B}"/>
    <pc:docChg chg="custSel modSld">
      <pc:chgData name="Manu Arrabal Talavera" userId="0ec3b0767588bd99" providerId="LiveId" clId="{D9D2AC14-1D71-4532-A9D3-E3914A0BE34B}" dt="2026-03-11T09:59:38.768" v="15" actId="207"/>
      <pc:docMkLst>
        <pc:docMk/>
      </pc:docMkLst>
      <pc:sldChg chg="modSp mod">
        <pc:chgData name="Manu Arrabal Talavera" userId="0ec3b0767588bd99" providerId="LiveId" clId="{D9D2AC14-1D71-4532-A9D3-E3914A0BE34B}" dt="2026-03-11T09:59:38.768" v="15" actId="207"/>
        <pc:sldMkLst>
          <pc:docMk/>
          <pc:sldMk cId="0" sldId="261"/>
        </pc:sldMkLst>
        <pc:graphicFrameChg chg="modGraphic">
          <ac:chgData name="Manu Arrabal Talavera" userId="0ec3b0767588bd99" providerId="LiveId" clId="{D9D2AC14-1D71-4532-A9D3-E3914A0BE34B}" dt="2026-03-11T09:59:38.768" v="15" actId="207"/>
          <ac:graphicFrameMkLst>
            <pc:docMk/>
            <pc:sldMk cId="0" sldId="261"/>
            <ac:graphicFrameMk id="188" creationId="{00000000-0000-0000-0000-00000000000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838200"/>
            <a:ext cx="116014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HARDWARE Y TECNOLOGÍA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95275" y="1352550"/>
            <a:ext cx="11601450" cy="16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TARJETAS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400" b="1" i="0" u="none" strike="noStrike" cap="non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GRÁFICAS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5619750" y="3371850"/>
            <a:ext cx="952500" cy="952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4038600"/>
            <a:ext cx="110490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Evolución, Anatomía y Mercado 202</a:t>
            </a:r>
            <a:r>
              <a:rPr lang="en-US" sz="21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6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571500" y="5307210"/>
            <a:ext cx="110490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Autor: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5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Manuel Arrabal Talavera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571500" y="5810101"/>
            <a:ext cx="110490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Curso: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5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ASIR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- </a:t>
            </a:r>
            <a:r>
              <a:rPr lang="en-US" sz="165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Fundamentos del Hardware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571500" y="6312991"/>
            <a:ext cx="110490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Fecha: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Marzo 202</a:t>
            </a:r>
            <a:r>
              <a:rPr lang="en-US" sz="165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571500" y="2036712"/>
            <a:ext cx="11049000" cy="302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01. Conceptos Básicos y GPU →</a:t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571500" y="2377678"/>
            <a:ext cx="11049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571500" y="2530078"/>
            <a:ext cx="11049000" cy="302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02. El Frame Buffer y RAMDAC →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571500" y="2871043"/>
            <a:ext cx="11049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571500" y="3023443"/>
            <a:ext cx="11049000" cy="302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03. FPS y Fluidez Visual →</a:t>
            </a:r>
            <a:endParaRPr/>
          </a:p>
        </p:txBody>
      </p:sp>
      <p:sp>
        <p:nvSpPr>
          <p:cNvPr id="102" name="Google Shape;102;p14"/>
          <p:cNvSpPr/>
          <p:nvPr/>
        </p:nvSpPr>
        <p:spPr>
          <a:xfrm>
            <a:off x="571500" y="3364408"/>
            <a:ext cx="11049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571500" y="3516808"/>
            <a:ext cx="11049000" cy="302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04. Resolución y Aspecto →</a:t>
            </a:r>
            <a:endParaRPr/>
          </a:p>
        </p:txBody>
      </p:sp>
      <p:sp>
        <p:nvSpPr>
          <p:cNvPr id="104" name="Google Shape;104;p14"/>
          <p:cNvSpPr/>
          <p:nvPr/>
        </p:nvSpPr>
        <p:spPr>
          <a:xfrm>
            <a:off x="571500" y="3857773"/>
            <a:ext cx="11049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571500" y="4010173"/>
            <a:ext cx="11049000" cy="302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05. Color y Tasa de Refresco →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571500" y="4351139"/>
            <a:ext cx="11049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571500" y="4503539"/>
            <a:ext cx="11049000" cy="302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06. Estándares de Conexión →</a:t>
            </a:r>
            <a:endParaRPr/>
          </a:p>
        </p:txBody>
      </p:sp>
      <p:sp>
        <p:nvSpPr>
          <p:cNvPr id="108" name="Google Shape;108;p14"/>
          <p:cNvSpPr/>
          <p:nvPr/>
        </p:nvSpPr>
        <p:spPr>
          <a:xfrm>
            <a:off x="571500" y="4844504"/>
            <a:ext cx="11049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4"/>
          <p:cNvSpPr txBox="1"/>
          <p:nvPr/>
        </p:nvSpPr>
        <p:spPr>
          <a:xfrm>
            <a:off x="571500" y="4996904"/>
            <a:ext cx="11049000" cy="302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07. Anatomía del Hardware →</a:t>
            </a:r>
            <a:endParaRPr/>
          </a:p>
        </p:txBody>
      </p:sp>
      <p:sp>
        <p:nvSpPr>
          <p:cNvPr id="110" name="Google Shape;110;p14"/>
          <p:cNvSpPr/>
          <p:nvPr/>
        </p:nvSpPr>
        <p:spPr>
          <a:xfrm>
            <a:off x="571500" y="5337869"/>
            <a:ext cx="11049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571500" y="5490269"/>
            <a:ext cx="11049000" cy="302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08. Estudio de Mercado Actual →</a:t>
            </a:r>
            <a:endParaRPr/>
          </a:p>
        </p:txBody>
      </p:sp>
      <p:sp>
        <p:nvSpPr>
          <p:cNvPr id="112" name="Google Shape;112;p14"/>
          <p:cNvSpPr/>
          <p:nvPr/>
        </p:nvSpPr>
        <p:spPr>
          <a:xfrm>
            <a:off x="571500" y="5831234"/>
            <a:ext cx="11049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4"/>
          <p:cNvSpPr txBox="1"/>
          <p:nvPr/>
        </p:nvSpPr>
        <p:spPr>
          <a:xfrm>
            <a:off x="571500" y="5983634"/>
            <a:ext cx="11049000" cy="302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09. Tendencias y Novedades →</a:t>
            </a:r>
            <a:endParaRPr/>
          </a:p>
        </p:txBody>
      </p:sp>
      <p:sp>
        <p:nvSpPr>
          <p:cNvPr id="114" name="Google Shape;114;p14"/>
          <p:cNvSpPr/>
          <p:nvPr/>
        </p:nvSpPr>
        <p:spPr>
          <a:xfrm>
            <a:off x="571500" y="6324600"/>
            <a:ext cx="11049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4"/>
          <p:cNvSpPr/>
          <p:nvPr/>
        </p:nvSpPr>
        <p:spPr>
          <a:xfrm>
            <a:off x="571500" y="2377678"/>
            <a:ext cx="11049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4"/>
          <p:cNvSpPr/>
          <p:nvPr/>
        </p:nvSpPr>
        <p:spPr>
          <a:xfrm>
            <a:off x="571500" y="2871043"/>
            <a:ext cx="11049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4"/>
          <p:cNvSpPr/>
          <p:nvPr/>
        </p:nvSpPr>
        <p:spPr>
          <a:xfrm>
            <a:off x="571500" y="3364408"/>
            <a:ext cx="11049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/>
          <p:nvPr/>
        </p:nvSpPr>
        <p:spPr>
          <a:xfrm>
            <a:off x="571500" y="3857773"/>
            <a:ext cx="11049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4"/>
          <p:cNvSpPr/>
          <p:nvPr/>
        </p:nvSpPr>
        <p:spPr>
          <a:xfrm>
            <a:off x="571500" y="4351139"/>
            <a:ext cx="11049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4"/>
          <p:cNvSpPr/>
          <p:nvPr/>
        </p:nvSpPr>
        <p:spPr>
          <a:xfrm>
            <a:off x="571500" y="4844504"/>
            <a:ext cx="11049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4"/>
          <p:cNvSpPr/>
          <p:nvPr/>
        </p:nvSpPr>
        <p:spPr>
          <a:xfrm>
            <a:off x="571500" y="5337869"/>
            <a:ext cx="11049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4"/>
          <p:cNvSpPr/>
          <p:nvPr/>
        </p:nvSpPr>
        <p:spPr>
          <a:xfrm>
            <a:off x="571500" y="5831234"/>
            <a:ext cx="11049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4"/>
          <p:cNvSpPr/>
          <p:nvPr/>
        </p:nvSpPr>
        <p:spPr>
          <a:xfrm>
            <a:off x="571500" y="6324600"/>
            <a:ext cx="11049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4"/>
          <p:cNvSpPr txBox="1"/>
          <p:nvPr/>
        </p:nvSpPr>
        <p:spPr>
          <a:xfrm>
            <a:off x="762000" y="950862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Contenido de la Sesión</a:t>
            </a:r>
            <a:endParaRPr/>
          </a:p>
        </p:txBody>
      </p:sp>
      <p:sp>
        <p:nvSpPr>
          <p:cNvPr id="125" name="Google Shape;125;p14"/>
          <p:cNvSpPr/>
          <p:nvPr/>
        </p:nvSpPr>
        <p:spPr>
          <a:xfrm>
            <a:off x="571500" y="950862"/>
            <a:ext cx="76200" cy="5524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180332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 txBox="1"/>
          <p:nvPr/>
        </p:nvSpPr>
        <p:spPr>
          <a:xfrm>
            <a:off x="571500" y="2687091"/>
            <a:ext cx="56007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Función Principal</a:t>
            </a:r>
            <a:endParaRPr/>
          </a:p>
        </p:txBody>
      </p:sp>
      <p:pic>
        <p:nvPicPr>
          <p:cNvPr id="133" name="Google Shape;133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05550" y="2199382"/>
            <a:ext cx="5295900" cy="37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5"/>
          <p:cNvSpPr txBox="1"/>
          <p:nvPr/>
        </p:nvSpPr>
        <p:spPr>
          <a:xfrm>
            <a:off x="914400" y="3200489"/>
            <a:ext cx="3810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952500" y="3201441"/>
            <a:ext cx="495300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Adapta datos </a:t>
            </a:r>
            <a:r>
              <a:rPr lang="en-US" sz="165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binarios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del procesador en señales para el monitor.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914400" y="3901469"/>
            <a:ext cx="3810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952500" y="3902422"/>
            <a:ext cx="495300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Libera al procesador central de cálculos geométricos complejos.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914400" y="4602450"/>
            <a:ext cx="3810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39" name="Google Shape;139;p15"/>
          <p:cNvSpPr txBox="1"/>
          <p:nvPr/>
        </p:nvSpPr>
        <p:spPr>
          <a:xfrm>
            <a:off x="952500" y="4603402"/>
            <a:ext cx="495300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Conexión habitual mediante bus </a:t>
            </a:r>
            <a:r>
              <a:rPr lang="en-US" sz="165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PCI Express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914400" y="5010090"/>
            <a:ext cx="3810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952500" y="5011042"/>
            <a:ext cx="495300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Gestiona texturas y elementos gráficos en la memoria propia.</a:t>
            </a:r>
            <a:endParaRPr/>
          </a:p>
        </p:txBody>
      </p:sp>
      <p:sp>
        <p:nvSpPr>
          <p:cNvPr id="142" name="Google Shape;142;p15"/>
          <p:cNvSpPr txBox="1"/>
          <p:nvPr/>
        </p:nvSpPr>
        <p:spPr>
          <a:xfrm>
            <a:off x="762000" y="950862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El Corazón Visual del PC</a:t>
            </a:r>
            <a:endParaRPr/>
          </a:p>
        </p:txBody>
      </p:sp>
      <p:sp>
        <p:nvSpPr>
          <p:cNvPr id="143" name="Google Shape;143;p15"/>
          <p:cNvSpPr/>
          <p:nvPr/>
        </p:nvSpPr>
        <p:spPr>
          <a:xfrm>
            <a:off x="571500" y="950862"/>
            <a:ext cx="76200" cy="5524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80332"/>
            <a:ext cx="5334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0550" y="2199382"/>
            <a:ext cx="5295900" cy="37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6"/>
          <p:cNvSpPr txBox="1"/>
          <p:nvPr/>
        </p:nvSpPr>
        <p:spPr>
          <a:xfrm>
            <a:off x="6286500" y="2540496"/>
            <a:ext cx="56007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Almacenamiento y Conversión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6629400" y="3053893"/>
            <a:ext cx="3810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6667500" y="3054846"/>
            <a:ext cx="495300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Frame Buffer: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Memoria temporal que guarda el "mapa de bits" de la imagen.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6629400" y="3754874"/>
            <a:ext cx="3810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6667500" y="3755826"/>
            <a:ext cx="495300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Cada posición de memoria representa un píxel y su color numérico.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6629400" y="4455854"/>
            <a:ext cx="3810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6667500" y="4456807"/>
            <a:ext cx="495300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RAMDAC: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Transforma datos digitales en señales analógicas (VGA).</a:t>
            </a:r>
            <a:endParaRPr/>
          </a:p>
        </p:txBody>
      </p:sp>
      <p:sp>
        <p:nvSpPr>
          <p:cNvPr id="158" name="Google Shape;158;p16"/>
          <p:cNvSpPr txBox="1"/>
          <p:nvPr/>
        </p:nvSpPr>
        <p:spPr>
          <a:xfrm>
            <a:off x="6629400" y="5156835"/>
            <a:ext cx="3810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59" name="Google Shape;159;p16"/>
          <p:cNvSpPr txBox="1"/>
          <p:nvPr/>
        </p:nvSpPr>
        <p:spPr>
          <a:xfrm>
            <a:off x="6667500" y="5157787"/>
            <a:ext cx="495300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Innecesario en conexiones puramente digitales (HDMI/DP).</a:t>
            </a:r>
            <a:endParaRPr/>
          </a:p>
        </p:txBody>
      </p:sp>
      <p:sp>
        <p:nvSpPr>
          <p:cNvPr id="160" name="Google Shape;160;p16"/>
          <p:cNvSpPr txBox="1"/>
          <p:nvPr/>
        </p:nvSpPr>
        <p:spPr>
          <a:xfrm>
            <a:off x="762000" y="950862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Frame Buffer y RAMDAC</a:t>
            </a:r>
            <a:endParaRPr/>
          </a:p>
        </p:txBody>
      </p:sp>
      <p:sp>
        <p:nvSpPr>
          <p:cNvPr id="161" name="Google Shape;161;p16"/>
          <p:cNvSpPr/>
          <p:nvPr/>
        </p:nvSpPr>
        <p:spPr>
          <a:xfrm>
            <a:off x="571500" y="950862"/>
            <a:ext cx="76200" cy="5524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69926"/>
            <a:ext cx="3555950" cy="28421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7950" y="2269926"/>
            <a:ext cx="3555950" cy="28421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2269926"/>
            <a:ext cx="3556099" cy="284217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7"/>
          <p:cNvSpPr txBox="1"/>
          <p:nvPr/>
        </p:nvSpPr>
        <p:spPr>
          <a:xfrm>
            <a:off x="571500" y="5493097"/>
            <a:ext cx="1104900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1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"La potencia gráfica determina cuántos frames se generan por segundo en tiempo real."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866775" y="3289101"/>
            <a:ext cx="311367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Persistencia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866775" y="3822501"/>
            <a:ext cx="2965400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La retina mantiene la imagen 0.1s, permitiendo fundir fotogramas en movimiento.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4613225" y="3289101"/>
            <a:ext cx="311367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Rango Fluido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4613225" y="3822501"/>
            <a:ext cx="296540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Mínimo: 24-29 fps para percibir movimiento sin saltos bruscos.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8359675" y="3289101"/>
            <a:ext cx="311382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Valor Óptimo</a:t>
            </a:r>
            <a:endParaRPr/>
          </a:p>
        </p:txBody>
      </p:sp>
      <p:sp>
        <p:nvSpPr>
          <p:cNvPr id="176" name="Google Shape;176;p17"/>
          <p:cNvSpPr txBox="1"/>
          <p:nvPr/>
        </p:nvSpPr>
        <p:spPr>
          <a:xfrm>
            <a:off x="8359675" y="3822501"/>
            <a:ext cx="2965549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Cerca de </a:t>
            </a:r>
            <a:r>
              <a:rPr lang="en-US" sz="165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60 fps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se obtiene una experiencia visual ideal y nítida.</a:t>
            </a:r>
            <a:endParaRPr/>
          </a:p>
        </p:txBody>
      </p:sp>
      <p:pic>
        <p:nvPicPr>
          <p:cNvPr id="177" name="Google Shape;177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2593776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13225" y="2593776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59675" y="2593776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7"/>
          <p:cNvSpPr txBox="1"/>
          <p:nvPr/>
        </p:nvSpPr>
        <p:spPr>
          <a:xfrm>
            <a:off x="762000" y="950862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Fluidez: FPS y Fotogramas</a:t>
            </a:r>
            <a:endParaRPr/>
          </a:p>
        </p:txBody>
      </p:sp>
      <p:sp>
        <p:nvSpPr>
          <p:cNvPr id="181" name="Google Shape;181;p17"/>
          <p:cNvSpPr/>
          <p:nvPr/>
        </p:nvSpPr>
        <p:spPr>
          <a:xfrm>
            <a:off x="571500" y="950862"/>
            <a:ext cx="76200" cy="5524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8"/>
          <p:cNvSpPr/>
          <p:nvPr/>
        </p:nvSpPr>
        <p:spPr>
          <a:xfrm>
            <a:off x="571500" y="2362348"/>
            <a:ext cx="11049000" cy="2847975"/>
          </a:xfrm>
          <a:prstGeom prst="roundRect">
            <a:avLst>
              <a:gd name="adj" fmla="val 0"/>
            </a:avLst>
          </a:prstGeom>
          <a:solidFill>
            <a:srgbClr val="1E293B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8" name="Google Shape;188;p18"/>
          <p:cNvGraphicFramePr/>
          <p:nvPr>
            <p:extLst>
              <p:ext uri="{D42A27DB-BD31-4B8C-83A1-F6EECF244321}">
                <p14:modId xmlns:p14="http://schemas.microsoft.com/office/powerpoint/2010/main" val="3790240970"/>
              </p:ext>
            </p:extLst>
          </p:nvPr>
        </p:nvGraphicFramePr>
        <p:xfrm>
          <a:off x="571500" y="2362348"/>
          <a:ext cx="11049000" cy="2848000"/>
        </p:xfrm>
        <a:graphic>
          <a:graphicData uri="http://schemas.openxmlformats.org/drawingml/2006/table">
            <a:tbl>
              <a:tblPr firstRow="1" bandRow="1">
                <a:noFill/>
                <a:tableStyleId>{AC0DE1A1-85BD-4F00-950D-43A124A9BCC1}</a:tableStyleId>
              </a:tblPr>
              <a:tblGrid>
                <a:gridCol w="288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91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05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9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Resolución (Píxeles)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Relación Aspecto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Millones de Píxeles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Uso Común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B8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9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1.280 x 1.024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4:3 / 5:4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1.3 M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 err="1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Monitores</a:t>
                      </a:r>
                      <a:r>
                        <a:rPr lang="en-US" sz="135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</a:t>
                      </a:r>
                      <a:r>
                        <a:rPr lang="en-US" sz="1350" b="0" i="0" u="none" strike="noStrike" cap="none" dirty="0" err="1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antiguos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9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1.920 x 1.080 (FHD)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16:9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2.2 M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 err="1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Estándar</a:t>
                      </a:r>
                      <a:r>
                        <a:rPr lang="en-US" sz="135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actual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9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2.560 x 1.440 (QHD)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16:9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3.7 M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Gaming </a:t>
                      </a:r>
                      <a:r>
                        <a:rPr lang="en-US" sz="1350" b="0" i="0" u="none" strike="noStrike" cap="none" dirty="0" err="1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nivel</a:t>
                      </a:r>
                      <a:r>
                        <a:rPr lang="en-US" sz="135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medio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9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3.840 x 2.160 (4K)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16:9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8.3 M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Gama </a:t>
                      </a:r>
                      <a:r>
                        <a:rPr lang="en-US" sz="1350" b="0" i="0" u="none" strike="noStrike" cap="none" dirty="0" err="1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alta</a:t>
                      </a:r>
                      <a:r>
                        <a:rPr lang="en-US" sz="135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</a:t>
                      </a:r>
                      <a:r>
                        <a:rPr lang="en-US" sz="1350" b="0" i="0" u="none" strike="noStrike" cap="none" dirty="0" err="1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profesional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9" name="Google Shape;189;p18"/>
          <p:cNvSpPr txBox="1"/>
          <p:nvPr/>
        </p:nvSpPr>
        <p:spPr>
          <a:xfrm>
            <a:off x="571500" y="5400823"/>
            <a:ext cx="1104900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955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Se recomienda usar siempre la </a:t>
            </a:r>
            <a:r>
              <a:rPr lang="en-US" sz="165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resolución nativa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del monitor para evitar distorsiones.</a:t>
            </a:r>
            <a:endParaRPr/>
          </a:p>
        </p:txBody>
      </p:sp>
      <p:pic>
        <p:nvPicPr>
          <p:cNvPr id="190" name="Google Shape;190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429398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8"/>
          <p:cNvSpPr/>
          <p:nvPr/>
        </p:nvSpPr>
        <p:spPr>
          <a:xfrm>
            <a:off x="571500" y="3519636"/>
            <a:ext cx="288399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8"/>
          <p:cNvSpPr/>
          <p:nvPr/>
        </p:nvSpPr>
        <p:spPr>
          <a:xfrm>
            <a:off x="3455491" y="3519636"/>
            <a:ext cx="256788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8"/>
          <p:cNvSpPr/>
          <p:nvPr/>
        </p:nvSpPr>
        <p:spPr>
          <a:xfrm>
            <a:off x="6023371" y="3519636"/>
            <a:ext cx="279186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8"/>
          <p:cNvSpPr/>
          <p:nvPr/>
        </p:nvSpPr>
        <p:spPr>
          <a:xfrm>
            <a:off x="8815238" y="3519636"/>
            <a:ext cx="280526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8"/>
          <p:cNvSpPr/>
          <p:nvPr/>
        </p:nvSpPr>
        <p:spPr>
          <a:xfrm>
            <a:off x="571500" y="4081611"/>
            <a:ext cx="288399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8"/>
          <p:cNvSpPr/>
          <p:nvPr/>
        </p:nvSpPr>
        <p:spPr>
          <a:xfrm>
            <a:off x="3455491" y="4081611"/>
            <a:ext cx="256788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8"/>
          <p:cNvSpPr/>
          <p:nvPr/>
        </p:nvSpPr>
        <p:spPr>
          <a:xfrm>
            <a:off x="6023371" y="4081611"/>
            <a:ext cx="279186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8"/>
          <p:cNvSpPr/>
          <p:nvPr/>
        </p:nvSpPr>
        <p:spPr>
          <a:xfrm>
            <a:off x="8815238" y="4081611"/>
            <a:ext cx="280526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8"/>
          <p:cNvSpPr/>
          <p:nvPr/>
        </p:nvSpPr>
        <p:spPr>
          <a:xfrm>
            <a:off x="571500" y="4643586"/>
            <a:ext cx="288399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8"/>
          <p:cNvSpPr/>
          <p:nvPr/>
        </p:nvSpPr>
        <p:spPr>
          <a:xfrm>
            <a:off x="3455491" y="4643586"/>
            <a:ext cx="256788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8"/>
          <p:cNvSpPr/>
          <p:nvPr/>
        </p:nvSpPr>
        <p:spPr>
          <a:xfrm>
            <a:off x="6023371" y="4643586"/>
            <a:ext cx="279186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8"/>
          <p:cNvSpPr/>
          <p:nvPr/>
        </p:nvSpPr>
        <p:spPr>
          <a:xfrm>
            <a:off x="8815238" y="4643586"/>
            <a:ext cx="280526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8"/>
          <p:cNvSpPr txBox="1"/>
          <p:nvPr/>
        </p:nvSpPr>
        <p:spPr>
          <a:xfrm>
            <a:off x="762000" y="950862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Resolución y Aspecto</a:t>
            </a:r>
            <a:endParaRPr/>
          </a:p>
        </p:txBody>
      </p:sp>
      <p:sp>
        <p:nvSpPr>
          <p:cNvPr id="204" name="Google Shape;204;p18"/>
          <p:cNvSpPr/>
          <p:nvPr/>
        </p:nvSpPr>
        <p:spPr>
          <a:xfrm>
            <a:off x="571500" y="950862"/>
            <a:ext cx="76200" cy="5524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718917"/>
            <a:ext cx="5334000" cy="896689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9"/>
          <p:cNvSpPr txBox="1"/>
          <p:nvPr/>
        </p:nvSpPr>
        <p:spPr>
          <a:xfrm>
            <a:off x="571500" y="3204567"/>
            <a:ext cx="56007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Fórmula de Memoria</a:t>
            </a:r>
            <a:endParaRPr/>
          </a:p>
        </p:txBody>
      </p:sp>
      <p:sp>
        <p:nvSpPr>
          <p:cNvPr id="212" name="Google Shape;212;p19"/>
          <p:cNvSpPr txBox="1"/>
          <p:nvPr/>
        </p:nvSpPr>
        <p:spPr>
          <a:xfrm>
            <a:off x="571500" y="4825156"/>
            <a:ext cx="533400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32 bits = 16.7M colores + </a:t>
            </a:r>
            <a:r>
              <a:rPr lang="en-US" sz="165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Canal Alfa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(transparencia).</a:t>
            </a:r>
            <a:endParaRPr/>
          </a:p>
        </p:txBody>
      </p:sp>
      <p:sp>
        <p:nvSpPr>
          <p:cNvPr id="213" name="Google Shape;213;p19"/>
          <p:cNvSpPr txBox="1"/>
          <p:nvPr/>
        </p:nvSpPr>
        <p:spPr>
          <a:xfrm>
            <a:off x="6286500" y="4553991"/>
            <a:ext cx="533400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97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Monitores de 120Hz/144Hz eliminan el parpadeo y mejoran el tiempo de respuesta en juegos rápidos.</a:t>
            </a:r>
            <a:endParaRPr/>
          </a:p>
        </p:txBody>
      </p:sp>
      <p:pic>
        <p:nvPicPr>
          <p:cNvPr id="214" name="Google Shape;214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6775" y="4014192"/>
            <a:ext cx="4743450" cy="306139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19"/>
          <p:cNvSpPr txBox="1"/>
          <p:nvPr/>
        </p:nvSpPr>
        <p:spPr>
          <a:xfrm>
            <a:off x="6286500" y="2915691"/>
            <a:ext cx="1143000" cy="12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10B98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60</a:t>
            </a:r>
            <a:endParaRPr/>
          </a:p>
        </p:txBody>
      </p:sp>
      <p:pic>
        <p:nvPicPr>
          <p:cNvPr id="216" name="Google Shape;216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6500" y="4582566"/>
            <a:ext cx="18097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9"/>
          <p:cNvSpPr txBox="1"/>
          <p:nvPr/>
        </p:nvSpPr>
        <p:spPr>
          <a:xfrm>
            <a:off x="7715250" y="3151882"/>
            <a:ext cx="3905250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Hertzios (Hz)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Veces por segundo que se redibuja la imagen.</a:t>
            </a:r>
            <a:endParaRPr/>
          </a:p>
        </p:txBody>
      </p:sp>
      <p:sp>
        <p:nvSpPr>
          <p:cNvPr id="218" name="Google Shape;218;p19"/>
          <p:cNvSpPr txBox="1"/>
          <p:nvPr/>
        </p:nvSpPr>
        <p:spPr>
          <a:xfrm>
            <a:off x="762000" y="950862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Profundidad y Refresco</a:t>
            </a:r>
            <a:endParaRPr/>
          </a:p>
        </p:txBody>
      </p:sp>
      <p:sp>
        <p:nvSpPr>
          <p:cNvPr id="219" name="Google Shape;219;p19"/>
          <p:cNvSpPr/>
          <p:nvPr/>
        </p:nvSpPr>
        <p:spPr>
          <a:xfrm>
            <a:off x="571500" y="950862"/>
            <a:ext cx="76200" cy="5524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84312"/>
            <a:ext cx="3555950" cy="23849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7950" y="1884312"/>
            <a:ext cx="3555950" cy="23849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1884312"/>
            <a:ext cx="3556099" cy="238497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0"/>
          <p:cNvSpPr txBox="1"/>
          <p:nvPr/>
        </p:nvSpPr>
        <p:spPr>
          <a:xfrm>
            <a:off x="866775" y="2446287"/>
            <a:ext cx="311367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HDMI</a:t>
            </a:r>
            <a:endParaRPr/>
          </a:p>
        </p:txBody>
      </p:sp>
      <p:sp>
        <p:nvSpPr>
          <p:cNvPr id="229" name="Google Shape;229;p20"/>
          <p:cNvSpPr txBox="1"/>
          <p:nvPr/>
        </p:nvSpPr>
        <p:spPr>
          <a:xfrm>
            <a:off x="866775" y="2979687"/>
            <a:ext cx="2965400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Estándar multimedia. Transmite audio y vídeo digital. Común en TVs y consolas.</a:t>
            </a:r>
            <a:endParaRPr/>
          </a:p>
        </p:txBody>
      </p:sp>
      <p:sp>
        <p:nvSpPr>
          <p:cNvPr id="230" name="Google Shape;230;p20"/>
          <p:cNvSpPr txBox="1"/>
          <p:nvPr/>
        </p:nvSpPr>
        <p:spPr>
          <a:xfrm>
            <a:off x="4613225" y="2446287"/>
            <a:ext cx="311367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DisplayPort (DP)</a:t>
            </a:r>
            <a:endParaRPr/>
          </a:p>
        </p:txBody>
      </p:sp>
      <p:sp>
        <p:nvSpPr>
          <p:cNvPr id="231" name="Google Shape;231;p20"/>
          <p:cNvSpPr txBox="1"/>
          <p:nvPr/>
        </p:nvSpPr>
        <p:spPr>
          <a:xfrm>
            <a:off x="4613225" y="2979687"/>
            <a:ext cx="2965400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El estándar más robusto para PC. Soporta mayores anchos de banda y multimonitor.</a:t>
            </a:r>
            <a:endParaRPr/>
          </a:p>
        </p:txBody>
      </p:sp>
      <p:sp>
        <p:nvSpPr>
          <p:cNvPr id="232" name="Google Shape;232;p20"/>
          <p:cNvSpPr txBox="1"/>
          <p:nvPr/>
        </p:nvSpPr>
        <p:spPr>
          <a:xfrm>
            <a:off x="8359675" y="2446287"/>
            <a:ext cx="311382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DVI-I / DVI-D</a:t>
            </a:r>
            <a:endParaRPr/>
          </a:p>
        </p:txBody>
      </p:sp>
      <p:sp>
        <p:nvSpPr>
          <p:cNvPr id="233" name="Google Shape;233;p20"/>
          <p:cNvSpPr txBox="1"/>
          <p:nvPr/>
        </p:nvSpPr>
        <p:spPr>
          <a:xfrm>
            <a:off x="8359675" y="2979687"/>
            <a:ext cx="2965549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Interfaz digital heredera de VGA. Permite compatibilidad con adaptadores.</a:t>
            </a:r>
            <a:endParaRPr/>
          </a:p>
        </p:txBody>
      </p:sp>
      <p:sp>
        <p:nvSpPr>
          <p:cNvPr id="234" name="Google Shape;234;p20"/>
          <p:cNvSpPr txBox="1"/>
          <p:nvPr/>
        </p:nvSpPr>
        <p:spPr>
          <a:xfrm>
            <a:off x="762000" y="950862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Estándares de Conexión</a:t>
            </a:r>
            <a:endParaRPr/>
          </a:p>
        </p:txBody>
      </p:sp>
      <p:sp>
        <p:nvSpPr>
          <p:cNvPr id="235" name="Google Shape;235;p20"/>
          <p:cNvSpPr/>
          <p:nvPr/>
        </p:nvSpPr>
        <p:spPr>
          <a:xfrm>
            <a:off x="571500" y="950862"/>
            <a:ext cx="76200" cy="5524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1"/>
          <p:cNvSpPr txBox="1"/>
          <p:nvPr/>
        </p:nvSpPr>
        <p:spPr>
          <a:xfrm>
            <a:off x="914400" y="2861458"/>
            <a:ext cx="3810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42" name="Google Shape;242;p21"/>
          <p:cNvSpPr txBox="1"/>
          <p:nvPr/>
        </p:nvSpPr>
        <p:spPr>
          <a:xfrm>
            <a:off x="952500" y="2862411"/>
            <a:ext cx="495300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1. GPU: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El procesador principal.</a:t>
            </a:r>
            <a:endParaRPr/>
          </a:p>
        </p:txBody>
      </p:sp>
      <p:sp>
        <p:nvSpPr>
          <p:cNvPr id="243" name="Google Shape;243;p21"/>
          <p:cNvSpPr txBox="1"/>
          <p:nvPr/>
        </p:nvSpPr>
        <p:spPr>
          <a:xfrm>
            <a:off x="914400" y="3269099"/>
            <a:ext cx="3810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44" name="Google Shape;244;p21"/>
          <p:cNvSpPr txBox="1"/>
          <p:nvPr/>
        </p:nvSpPr>
        <p:spPr>
          <a:xfrm>
            <a:off x="952500" y="3270051"/>
            <a:ext cx="495300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2. VRAM: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Chips de memoria GDDR6.</a:t>
            </a:r>
            <a:endParaRPr/>
          </a:p>
        </p:txBody>
      </p:sp>
      <p:sp>
        <p:nvSpPr>
          <p:cNvPr id="245" name="Google Shape;245;p21"/>
          <p:cNvSpPr txBox="1"/>
          <p:nvPr/>
        </p:nvSpPr>
        <p:spPr>
          <a:xfrm>
            <a:off x="914400" y="3676739"/>
            <a:ext cx="3810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46" name="Google Shape;246;p21"/>
          <p:cNvSpPr txBox="1"/>
          <p:nvPr/>
        </p:nvSpPr>
        <p:spPr>
          <a:xfrm>
            <a:off x="952500" y="3677691"/>
            <a:ext cx="495300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3. Conector PCIe: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Interfaz con placa base.</a:t>
            </a:r>
            <a:endParaRPr/>
          </a:p>
        </p:txBody>
      </p:sp>
      <p:sp>
        <p:nvSpPr>
          <p:cNvPr id="247" name="Google Shape;247;p21"/>
          <p:cNvSpPr txBox="1"/>
          <p:nvPr/>
        </p:nvSpPr>
        <p:spPr>
          <a:xfrm>
            <a:off x="914400" y="4084379"/>
            <a:ext cx="3810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48" name="Google Shape;248;p21"/>
          <p:cNvSpPr txBox="1"/>
          <p:nvPr/>
        </p:nvSpPr>
        <p:spPr>
          <a:xfrm>
            <a:off x="952500" y="4085332"/>
            <a:ext cx="495300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4. SLI/Crossfire: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Conector multi-GPU.</a:t>
            </a:r>
            <a:endParaRPr/>
          </a:p>
        </p:txBody>
      </p:sp>
      <p:sp>
        <p:nvSpPr>
          <p:cNvPr id="249" name="Google Shape;249;p21"/>
          <p:cNvSpPr txBox="1"/>
          <p:nvPr/>
        </p:nvSpPr>
        <p:spPr>
          <a:xfrm>
            <a:off x="914400" y="4492019"/>
            <a:ext cx="3810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50" name="Google Shape;250;p21"/>
          <p:cNvSpPr txBox="1"/>
          <p:nvPr/>
        </p:nvSpPr>
        <p:spPr>
          <a:xfrm>
            <a:off x="952500" y="4492972"/>
            <a:ext cx="495300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5. Alimentación: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Conectores 8/16 pines.</a:t>
            </a:r>
            <a:endParaRPr/>
          </a:p>
        </p:txBody>
      </p:sp>
      <p:sp>
        <p:nvSpPr>
          <p:cNvPr id="251" name="Google Shape;251;p21"/>
          <p:cNvSpPr txBox="1"/>
          <p:nvPr/>
        </p:nvSpPr>
        <p:spPr>
          <a:xfrm>
            <a:off x="914400" y="4899660"/>
            <a:ext cx="3810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52" name="Google Shape;252;p21"/>
          <p:cNvSpPr txBox="1"/>
          <p:nvPr/>
        </p:nvSpPr>
        <p:spPr>
          <a:xfrm>
            <a:off x="952500" y="4900612"/>
            <a:ext cx="495300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6. Placa Lógica: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PCB que une todo.</a:t>
            </a:r>
            <a:endParaRPr/>
          </a:p>
        </p:txBody>
      </p:sp>
      <p:sp>
        <p:nvSpPr>
          <p:cNvPr id="253" name="Google Shape;253;p21"/>
          <p:cNvSpPr txBox="1"/>
          <p:nvPr/>
        </p:nvSpPr>
        <p:spPr>
          <a:xfrm>
            <a:off x="6629400" y="3065204"/>
            <a:ext cx="3810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54" name="Google Shape;254;p21"/>
          <p:cNvSpPr txBox="1"/>
          <p:nvPr/>
        </p:nvSpPr>
        <p:spPr>
          <a:xfrm>
            <a:off x="6667500" y="3066157"/>
            <a:ext cx="495300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7. Salidas DVI/HDMI/DP: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Conexión monitor.</a:t>
            </a:r>
            <a:endParaRPr/>
          </a:p>
        </p:txBody>
      </p:sp>
      <p:sp>
        <p:nvSpPr>
          <p:cNvPr id="255" name="Google Shape;255;p21"/>
          <p:cNvSpPr txBox="1"/>
          <p:nvPr/>
        </p:nvSpPr>
        <p:spPr>
          <a:xfrm>
            <a:off x="6629400" y="3472844"/>
            <a:ext cx="3810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56" name="Google Shape;256;p21"/>
          <p:cNvSpPr txBox="1"/>
          <p:nvPr/>
        </p:nvSpPr>
        <p:spPr>
          <a:xfrm>
            <a:off x="6667500" y="3473797"/>
            <a:ext cx="495300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8. BIOS: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Firmware de la tarjeta.</a:t>
            </a:r>
            <a:endParaRPr/>
          </a:p>
        </p:txBody>
      </p:sp>
      <p:sp>
        <p:nvSpPr>
          <p:cNvPr id="257" name="Google Shape;257;p21"/>
          <p:cNvSpPr txBox="1"/>
          <p:nvPr/>
        </p:nvSpPr>
        <p:spPr>
          <a:xfrm>
            <a:off x="6629400" y="3880485"/>
            <a:ext cx="3810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58" name="Google Shape;258;p21"/>
          <p:cNvSpPr txBox="1"/>
          <p:nvPr/>
        </p:nvSpPr>
        <p:spPr>
          <a:xfrm>
            <a:off x="6667500" y="3881437"/>
            <a:ext cx="495300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9. VRM: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Gestión de voltaje.</a:t>
            </a:r>
            <a:endParaRPr/>
          </a:p>
        </p:txBody>
      </p:sp>
      <p:sp>
        <p:nvSpPr>
          <p:cNvPr id="259" name="Google Shape;259;p21"/>
          <p:cNvSpPr txBox="1"/>
          <p:nvPr/>
        </p:nvSpPr>
        <p:spPr>
          <a:xfrm>
            <a:off x="6629400" y="4288125"/>
            <a:ext cx="3810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60" name="Google Shape;260;p21"/>
          <p:cNvSpPr txBox="1"/>
          <p:nvPr/>
        </p:nvSpPr>
        <p:spPr>
          <a:xfrm>
            <a:off x="6667500" y="4289077"/>
            <a:ext cx="495300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10. Disipador: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Bloque de metal.</a:t>
            </a:r>
            <a:endParaRPr/>
          </a:p>
        </p:txBody>
      </p:sp>
      <p:sp>
        <p:nvSpPr>
          <p:cNvPr id="261" name="Google Shape;261;p21"/>
          <p:cNvSpPr txBox="1"/>
          <p:nvPr/>
        </p:nvSpPr>
        <p:spPr>
          <a:xfrm>
            <a:off x="6629400" y="4695765"/>
            <a:ext cx="3810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62" name="Google Shape;262;p21"/>
          <p:cNvSpPr txBox="1"/>
          <p:nvPr/>
        </p:nvSpPr>
        <p:spPr>
          <a:xfrm>
            <a:off x="6667500" y="4696717"/>
            <a:ext cx="495300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11. Ventiladores: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Refrigeración activa.</a:t>
            </a:r>
            <a:endParaRPr/>
          </a:p>
        </p:txBody>
      </p:sp>
      <p:sp>
        <p:nvSpPr>
          <p:cNvPr id="263" name="Google Shape;263;p21"/>
          <p:cNvSpPr txBox="1"/>
          <p:nvPr/>
        </p:nvSpPr>
        <p:spPr>
          <a:xfrm>
            <a:off x="762000" y="950862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Anatomía del Hardware</a:t>
            </a:r>
            <a:endParaRPr/>
          </a:p>
        </p:txBody>
      </p:sp>
      <p:sp>
        <p:nvSpPr>
          <p:cNvPr id="264" name="Google Shape;264;p21"/>
          <p:cNvSpPr/>
          <p:nvPr/>
        </p:nvSpPr>
        <p:spPr>
          <a:xfrm>
            <a:off x="571500" y="950862"/>
            <a:ext cx="76200" cy="5524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269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2"/>
          <p:cNvSpPr/>
          <p:nvPr/>
        </p:nvSpPr>
        <p:spPr>
          <a:xfrm>
            <a:off x="571500" y="2669976"/>
            <a:ext cx="11049000" cy="2286000"/>
          </a:xfrm>
          <a:prstGeom prst="roundRect">
            <a:avLst>
              <a:gd name="adj" fmla="val 0"/>
            </a:avLst>
          </a:prstGeom>
          <a:solidFill>
            <a:srgbClr val="1E293B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71" name="Google Shape;271;p22"/>
          <p:cNvGraphicFramePr/>
          <p:nvPr/>
        </p:nvGraphicFramePr>
        <p:xfrm>
          <a:off x="571500" y="2669976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{AC0DE1A1-85BD-4F00-950D-43A124A9BCC1}</a:tableStyleId>
              </a:tblPr>
              <a:tblGrid>
                <a:gridCol w="2383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0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8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47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Gama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NVIDIA (GeForce)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AMD (Radeon)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Intel (Arc)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B8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Baja (1080p)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RTX 4060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RX 7600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Arc A580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Media (1440p)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RTX 4070 Super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RX 7800 XT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Arc A770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Alta (4K)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RTX 4090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RX 7900 XTX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Battlemage (Próx.)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72" name="Google Shape;272;p22"/>
          <p:cNvSpPr txBox="1"/>
          <p:nvPr/>
        </p:nvSpPr>
        <p:spPr>
          <a:xfrm>
            <a:off x="571500" y="5146476"/>
            <a:ext cx="11049000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Se han comparado las arquitecturas más recientes de cada fabricante.</a:t>
            </a:r>
            <a:endParaRPr/>
          </a:p>
        </p:txBody>
      </p:sp>
      <p:pic>
        <p:nvPicPr>
          <p:cNvPr id="273" name="Google Shape;273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175051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2"/>
          <p:cNvSpPr/>
          <p:nvPr/>
        </p:nvSpPr>
        <p:spPr>
          <a:xfrm>
            <a:off x="571500" y="3827264"/>
            <a:ext cx="238303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2"/>
          <p:cNvSpPr/>
          <p:nvPr/>
        </p:nvSpPr>
        <p:spPr>
          <a:xfrm>
            <a:off x="2954535" y="3827264"/>
            <a:ext cx="311035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2"/>
          <p:cNvSpPr/>
          <p:nvPr/>
        </p:nvSpPr>
        <p:spPr>
          <a:xfrm>
            <a:off x="6064894" y="3827264"/>
            <a:ext cx="270807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2"/>
          <p:cNvSpPr/>
          <p:nvPr/>
        </p:nvSpPr>
        <p:spPr>
          <a:xfrm>
            <a:off x="8772971" y="3827264"/>
            <a:ext cx="284752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2"/>
          <p:cNvSpPr/>
          <p:nvPr/>
        </p:nvSpPr>
        <p:spPr>
          <a:xfrm>
            <a:off x="571500" y="4389239"/>
            <a:ext cx="238303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2"/>
          <p:cNvSpPr/>
          <p:nvPr/>
        </p:nvSpPr>
        <p:spPr>
          <a:xfrm>
            <a:off x="2954535" y="4389239"/>
            <a:ext cx="311035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2"/>
          <p:cNvSpPr/>
          <p:nvPr/>
        </p:nvSpPr>
        <p:spPr>
          <a:xfrm>
            <a:off x="6064894" y="4389239"/>
            <a:ext cx="270807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2"/>
          <p:cNvSpPr/>
          <p:nvPr/>
        </p:nvSpPr>
        <p:spPr>
          <a:xfrm>
            <a:off x="8772971" y="4389239"/>
            <a:ext cx="284752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2"/>
          <p:cNvSpPr txBox="1"/>
          <p:nvPr/>
        </p:nvSpPr>
        <p:spPr>
          <a:xfrm>
            <a:off x="762000" y="950862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Estudio de Mercado 2025</a:t>
            </a:r>
            <a:endParaRPr/>
          </a:p>
        </p:txBody>
      </p:sp>
      <p:sp>
        <p:nvSpPr>
          <p:cNvPr id="283" name="Google Shape;283;p22"/>
          <p:cNvSpPr/>
          <p:nvPr/>
        </p:nvSpPr>
        <p:spPr>
          <a:xfrm>
            <a:off x="571500" y="950862"/>
            <a:ext cx="76200" cy="5524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Google Shape;288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43286"/>
            <a:ext cx="5334000" cy="36840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243286"/>
            <a:ext cx="5334000" cy="3684091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3"/>
          <p:cNvSpPr txBox="1"/>
          <p:nvPr/>
        </p:nvSpPr>
        <p:spPr>
          <a:xfrm>
            <a:off x="866775" y="2805261"/>
            <a:ext cx="498062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Por Fabricante</a:t>
            </a:r>
            <a:endParaRPr/>
          </a:p>
        </p:txBody>
      </p:sp>
      <p:sp>
        <p:nvSpPr>
          <p:cNvPr id="292" name="Google Shape;292;p23"/>
          <p:cNvSpPr txBox="1"/>
          <p:nvPr/>
        </p:nvSpPr>
        <p:spPr>
          <a:xfrm>
            <a:off x="866775" y="3338661"/>
            <a:ext cx="474345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NVIDIA: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Líder en tecnología IA y Ray Tracing, pero con precios más elevados.</a:t>
            </a:r>
            <a:endParaRPr/>
          </a:p>
        </p:txBody>
      </p:sp>
      <p:sp>
        <p:nvSpPr>
          <p:cNvPr id="293" name="Google Shape;293;p23"/>
          <p:cNvSpPr txBox="1"/>
          <p:nvPr/>
        </p:nvSpPr>
        <p:spPr>
          <a:xfrm>
            <a:off x="866775" y="4134891"/>
            <a:ext cx="474345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AMD: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Mejor relación calidad/precio y mayor cantidad de VRAM nativa.</a:t>
            </a:r>
            <a:endParaRPr/>
          </a:p>
        </p:txBody>
      </p:sp>
      <p:sp>
        <p:nvSpPr>
          <p:cNvPr id="294" name="Google Shape;294;p23"/>
          <p:cNvSpPr txBox="1"/>
          <p:nvPr/>
        </p:nvSpPr>
        <p:spPr>
          <a:xfrm>
            <a:off x="866775" y="4931122"/>
            <a:ext cx="474345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Intel: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Excelente entrada en gama media con drivers en mejora constante.</a:t>
            </a:r>
            <a:endParaRPr/>
          </a:p>
        </p:txBody>
      </p:sp>
      <p:sp>
        <p:nvSpPr>
          <p:cNvPr id="295" name="Google Shape;295;p23"/>
          <p:cNvSpPr txBox="1"/>
          <p:nvPr/>
        </p:nvSpPr>
        <p:spPr>
          <a:xfrm>
            <a:off x="6581775" y="2805261"/>
            <a:ext cx="498062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Por Gamas</a:t>
            </a:r>
            <a:endParaRPr/>
          </a:p>
        </p:txBody>
      </p:sp>
      <p:sp>
        <p:nvSpPr>
          <p:cNvPr id="296" name="Google Shape;296;p23"/>
          <p:cNvSpPr txBox="1"/>
          <p:nvPr/>
        </p:nvSpPr>
        <p:spPr>
          <a:xfrm>
            <a:off x="6581775" y="3338661"/>
            <a:ext cx="474345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Gama Baja: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Dominio de Intel/AMD por precio. NVIDIA prioriza eficiencia.</a:t>
            </a:r>
            <a:endParaRPr/>
          </a:p>
        </p:txBody>
      </p:sp>
      <p:sp>
        <p:nvSpPr>
          <p:cNvPr id="297" name="Google Shape;297;p23"/>
          <p:cNvSpPr txBox="1"/>
          <p:nvPr/>
        </p:nvSpPr>
        <p:spPr>
          <a:xfrm>
            <a:off x="6581775" y="4134891"/>
            <a:ext cx="474345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Gama Media: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El campo más reñido. El equilibrio está en los 1440p.</a:t>
            </a:r>
            <a:endParaRPr/>
          </a:p>
        </p:txBody>
      </p:sp>
      <p:sp>
        <p:nvSpPr>
          <p:cNvPr id="298" name="Google Shape;298;p23"/>
          <p:cNvSpPr txBox="1"/>
          <p:nvPr/>
        </p:nvSpPr>
        <p:spPr>
          <a:xfrm>
            <a:off x="6581775" y="4931122"/>
            <a:ext cx="474345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Gama Alta: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NVIDIA RTX 4090 no tiene rival directo en rendimiento bruto.</a:t>
            </a:r>
            <a:endParaRPr/>
          </a:p>
        </p:txBody>
      </p:sp>
      <p:sp>
        <p:nvSpPr>
          <p:cNvPr id="299" name="Google Shape;299;p23"/>
          <p:cNvSpPr txBox="1"/>
          <p:nvPr/>
        </p:nvSpPr>
        <p:spPr>
          <a:xfrm>
            <a:off x="762000" y="950862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Conclusiones del Mercado</a:t>
            </a:r>
            <a:endParaRPr/>
          </a:p>
        </p:txBody>
      </p:sp>
      <p:sp>
        <p:nvSpPr>
          <p:cNvPr id="300" name="Google Shape;300;p23"/>
          <p:cNvSpPr/>
          <p:nvPr/>
        </p:nvSpPr>
        <p:spPr>
          <a:xfrm>
            <a:off x="571500" y="950862"/>
            <a:ext cx="76200" cy="5524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Google Shape;305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180332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4"/>
          <p:cNvSpPr txBox="1"/>
          <p:nvPr/>
        </p:nvSpPr>
        <p:spPr>
          <a:xfrm>
            <a:off x="571500" y="2833836"/>
            <a:ext cx="56007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IA y Generación de Frames</a:t>
            </a:r>
            <a:endParaRPr/>
          </a:p>
        </p:txBody>
      </p:sp>
      <p:pic>
        <p:nvPicPr>
          <p:cNvPr id="308" name="Google Shape;308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05550" y="2199382"/>
            <a:ext cx="5295900" cy="37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4"/>
          <p:cNvSpPr txBox="1"/>
          <p:nvPr/>
        </p:nvSpPr>
        <p:spPr>
          <a:xfrm>
            <a:off x="914400" y="3347233"/>
            <a:ext cx="3810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310" name="Google Shape;310;p24"/>
          <p:cNvSpPr txBox="1"/>
          <p:nvPr/>
        </p:nvSpPr>
        <p:spPr>
          <a:xfrm>
            <a:off x="952500" y="3348186"/>
            <a:ext cx="495300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NVIDIA DLSS 3.5: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Reconstrucción de rayos mediante IA.</a:t>
            </a:r>
            <a:endParaRPr/>
          </a:p>
        </p:txBody>
      </p:sp>
      <p:sp>
        <p:nvSpPr>
          <p:cNvPr id="311" name="Google Shape;311;p24"/>
          <p:cNvSpPr txBox="1"/>
          <p:nvPr/>
        </p:nvSpPr>
        <p:spPr>
          <a:xfrm>
            <a:off x="914400" y="4048214"/>
            <a:ext cx="3810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312" name="Google Shape;312;p24"/>
          <p:cNvSpPr txBox="1"/>
          <p:nvPr/>
        </p:nvSpPr>
        <p:spPr>
          <a:xfrm>
            <a:off x="952500" y="4049166"/>
            <a:ext cx="495300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AMD FSR 3.1: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Generación de cuadros abierta a todos.</a:t>
            </a:r>
            <a:endParaRPr/>
          </a:p>
        </p:txBody>
      </p:sp>
      <p:sp>
        <p:nvSpPr>
          <p:cNvPr id="313" name="Google Shape;313;p24"/>
          <p:cNvSpPr txBox="1"/>
          <p:nvPr/>
        </p:nvSpPr>
        <p:spPr>
          <a:xfrm>
            <a:off x="914400" y="4455854"/>
            <a:ext cx="3810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314" name="Google Shape;314;p24"/>
          <p:cNvSpPr txBox="1"/>
          <p:nvPr/>
        </p:nvSpPr>
        <p:spPr>
          <a:xfrm>
            <a:off x="952500" y="4456807"/>
            <a:ext cx="495300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Foco en el </a:t>
            </a:r>
            <a:r>
              <a:rPr lang="en-US" sz="165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Path Tracing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para realismo fotográfico.</a:t>
            </a:r>
            <a:endParaRPr/>
          </a:p>
        </p:txBody>
      </p:sp>
      <p:sp>
        <p:nvSpPr>
          <p:cNvPr id="315" name="Google Shape;315;p24"/>
          <p:cNvSpPr txBox="1"/>
          <p:nvPr/>
        </p:nvSpPr>
        <p:spPr>
          <a:xfrm>
            <a:off x="914400" y="4863494"/>
            <a:ext cx="3810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316" name="Google Shape;316;p24"/>
          <p:cNvSpPr txBox="1"/>
          <p:nvPr/>
        </p:nvSpPr>
        <p:spPr>
          <a:xfrm>
            <a:off x="952500" y="4864447"/>
            <a:ext cx="495300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Aparición de memorias </a:t>
            </a:r>
            <a:r>
              <a:rPr lang="en-US" sz="165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GDDR7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para mayor ancho de banda.</a:t>
            </a:r>
            <a:endParaRPr/>
          </a:p>
        </p:txBody>
      </p:sp>
      <p:sp>
        <p:nvSpPr>
          <p:cNvPr id="317" name="Google Shape;317;p24"/>
          <p:cNvSpPr txBox="1"/>
          <p:nvPr/>
        </p:nvSpPr>
        <p:spPr>
          <a:xfrm>
            <a:off x="762000" y="950862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Tendencias y Futuro</a:t>
            </a:r>
            <a:endParaRPr/>
          </a:p>
        </p:txBody>
      </p:sp>
      <p:sp>
        <p:nvSpPr>
          <p:cNvPr id="318" name="Google Shape;318;p24"/>
          <p:cNvSpPr/>
          <p:nvPr/>
        </p:nvSpPr>
        <p:spPr>
          <a:xfrm>
            <a:off x="571500" y="950862"/>
            <a:ext cx="76200" cy="5524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3" name="Google Shape;323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25"/>
          <p:cNvSpPr/>
          <p:nvPr/>
        </p:nvSpPr>
        <p:spPr>
          <a:xfrm>
            <a:off x="571500" y="2481560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5"/>
          <p:cNvSpPr/>
          <p:nvPr/>
        </p:nvSpPr>
        <p:spPr>
          <a:xfrm>
            <a:off x="571500" y="3253085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5"/>
          <p:cNvSpPr/>
          <p:nvPr/>
        </p:nvSpPr>
        <p:spPr>
          <a:xfrm>
            <a:off x="571500" y="4024610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5"/>
          <p:cNvSpPr/>
          <p:nvPr/>
        </p:nvSpPr>
        <p:spPr>
          <a:xfrm>
            <a:off x="571500" y="324356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5"/>
          <p:cNvSpPr/>
          <p:nvPr/>
        </p:nvSpPr>
        <p:spPr>
          <a:xfrm>
            <a:off x="571500" y="324356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5"/>
          <p:cNvSpPr/>
          <p:nvPr/>
        </p:nvSpPr>
        <p:spPr>
          <a:xfrm>
            <a:off x="571500" y="401508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5"/>
          <p:cNvSpPr/>
          <p:nvPr/>
        </p:nvSpPr>
        <p:spPr>
          <a:xfrm>
            <a:off x="571500" y="401508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5"/>
          <p:cNvSpPr/>
          <p:nvPr/>
        </p:nvSpPr>
        <p:spPr>
          <a:xfrm>
            <a:off x="571500" y="478661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5"/>
          <p:cNvSpPr/>
          <p:nvPr/>
        </p:nvSpPr>
        <p:spPr>
          <a:xfrm>
            <a:off x="571500" y="478661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3" name="Google Shape;333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62443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25"/>
          <p:cNvSpPr txBox="1"/>
          <p:nvPr/>
        </p:nvSpPr>
        <p:spPr>
          <a:xfrm>
            <a:off x="1666875" y="2645419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https://velocitymicro.com/img/RTX_40_series/1__rtx4090-hero_v2.jpg</a:t>
            </a:r>
            <a:endParaRPr/>
          </a:p>
        </p:txBody>
      </p:sp>
      <p:sp>
        <p:nvSpPr>
          <p:cNvPr id="335" name="Google Shape;335;p25"/>
          <p:cNvSpPr txBox="1"/>
          <p:nvPr/>
        </p:nvSpPr>
        <p:spPr>
          <a:xfrm>
            <a:off x="1666875" y="2866280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www.velocitymicro.com</a:t>
            </a:r>
            <a:endParaRPr/>
          </a:p>
        </p:txBody>
      </p:sp>
      <p:pic>
        <p:nvPicPr>
          <p:cNvPr id="336" name="Google Shape;336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39596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25"/>
          <p:cNvSpPr txBox="1"/>
          <p:nvPr/>
        </p:nvSpPr>
        <p:spPr>
          <a:xfrm>
            <a:off x="1666875" y="3416944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https://img.evetech.co.za/repository/ez/choosing-the-right-graphics-card-for-cad-and-engin-banner.webp</a:t>
            </a:r>
            <a:endParaRPr/>
          </a:p>
        </p:txBody>
      </p:sp>
      <p:sp>
        <p:nvSpPr>
          <p:cNvPr id="338" name="Google Shape;338;p25"/>
          <p:cNvSpPr txBox="1"/>
          <p:nvPr/>
        </p:nvSpPr>
        <p:spPr>
          <a:xfrm>
            <a:off x="1666875" y="3637805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evezone.evetech.co.za</a:t>
            </a:r>
            <a:endParaRPr/>
          </a:p>
        </p:txBody>
      </p:sp>
      <p:pic>
        <p:nvPicPr>
          <p:cNvPr id="339" name="Google Shape;339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16748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25"/>
          <p:cNvSpPr txBox="1"/>
          <p:nvPr/>
        </p:nvSpPr>
        <p:spPr>
          <a:xfrm>
            <a:off x="1666875" y="4188469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http://www.cablecreation.com/cdn/shop/articles/0c7a06e9c011712c18f93b67da191091.jpg?v=1652229957</a:t>
            </a:r>
            <a:endParaRPr/>
          </a:p>
        </p:txBody>
      </p:sp>
      <p:sp>
        <p:nvSpPr>
          <p:cNvPr id="341" name="Google Shape;341;p25"/>
          <p:cNvSpPr txBox="1"/>
          <p:nvPr/>
        </p:nvSpPr>
        <p:spPr>
          <a:xfrm>
            <a:off x="1666875" y="4409330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www.cablecreation.com</a:t>
            </a:r>
            <a:endParaRPr/>
          </a:p>
        </p:txBody>
      </p:sp>
      <p:pic>
        <p:nvPicPr>
          <p:cNvPr id="342" name="Google Shape;342;p2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500449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25"/>
          <p:cNvSpPr txBox="1"/>
          <p:nvPr/>
        </p:nvSpPr>
        <p:spPr>
          <a:xfrm>
            <a:off x="1666875" y="4939010"/>
            <a:ext cx="9953625" cy="346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https://external-preview.redd.it/actual-resolution-comparison-1080p-2k-vs-4k-vs-8k-v0-NB8Hs0aunWn9fQiVVGqzcqweg3NovZnYWounHNhOGpc.jpg?width=640&amp;crop=smart&amp;auto=webp&amp;s=f12df45f0e1da214ce65c3b01e94d2b17fd5ef7d</a:t>
            </a:r>
            <a:endParaRPr/>
          </a:p>
        </p:txBody>
      </p:sp>
      <p:sp>
        <p:nvSpPr>
          <p:cNvPr id="344" name="Google Shape;344;p25"/>
          <p:cNvSpPr txBox="1"/>
          <p:nvPr/>
        </p:nvSpPr>
        <p:spPr>
          <a:xfrm>
            <a:off x="1666875" y="5333107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www.reddit.com</a:t>
            </a:r>
            <a:endParaRPr/>
          </a:p>
        </p:txBody>
      </p:sp>
      <p:sp>
        <p:nvSpPr>
          <p:cNvPr id="345" name="Google Shape;345;p25"/>
          <p:cNvSpPr txBox="1"/>
          <p:nvPr/>
        </p:nvSpPr>
        <p:spPr>
          <a:xfrm>
            <a:off x="762000" y="950862"/>
            <a:ext cx="11401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Webgrafía</a:t>
            </a:r>
            <a:endParaRPr/>
          </a:p>
        </p:txBody>
      </p:sp>
      <p:sp>
        <p:nvSpPr>
          <p:cNvPr id="346" name="Google Shape;346;p25"/>
          <p:cNvSpPr/>
          <p:nvPr/>
        </p:nvSpPr>
        <p:spPr>
          <a:xfrm>
            <a:off x="571500" y="950862"/>
            <a:ext cx="76200" cy="5524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877</Words>
  <Application>Microsoft Office PowerPoint</Application>
  <PresentationFormat>Panorámica</PresentationFormat>
  <Paragraphs>148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8" baseType="lpstr">
      <vt:lpstr>JetBrains Mono</vt:lpstr>
      <vt:lpstr>Urbanist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ASIR1-01</dc:creator>
  <cp:lastModifiedBy>Manu Arrabal Talavera</cp:lastModifiedBy>
  <cp:revision>1</cp:revision>
  <dcterms:modified xsi:type="dcterms:W3CDTF">2026-03-11T09:59:43Z</dcterms:modified>
</cp:coreProperties>
</file>