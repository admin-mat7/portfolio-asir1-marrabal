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Medium" panose="020B0604020202020204" charset="0"/>
      <p:regular r:id="rId20"/>
      <p:bold r:id="rId21"/>
      <p:italic r:id="rId22"/>
      <p:boldItalic r:id="rId23"/>
    </p:embeddedFont>
    <p:embeddedFont>
      <p:font typeface="Urbanist SemiBold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F517DB-86E2-415F-9688-7F36FEA8EA56}">
  <a:tblStyle styleId="{70F517DB-86E2-415F-9688-7F36FEA8EA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17.png"/><Relationship Id="rId10" Type="http://schemas.openxmlformats.org/officeDocument/2006/relationships/image" Target="../media/image30.png"/><Relationship Id="rId4" Type="http://schemas.openxmlformats.org/officeDocument/2006/relationships/image" Target="../media/image16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profesionalreview.com/2020/10/10/como-elegir-un-sai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xataka.com/seleccion/mejores-sai-que-como-funcionan-cual-comprar-ocho-sistemas-alimentacion-ininterrumpida-recomendados-39-euros" TargetMode="External"/><Relationship Id="rId5" Type="http://schemas.openxmlformats.org/officeDocument/2006/relationships/hyperlink" Target="https://www.profesionalreview.com/2020/10/24/proteger-pc-picos-de-tension/" TargetMode="External"/><Relationship Id="rId4" Type="http://schemas.openxmlformats.org/officeDocument/2006/relationships/hyperlink" Target="https://www.profesionalreview.com/2020/11/22/errores-elegir-fuente-de-alimentac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2052191"/>
            <a:ext cx="11715750" cy="68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Fuentes de Alimentación y </a:t>
            </a:r>
            <a:r>
              <a:rPr lang="en-US" sz="487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3018978"/>
            <a:ext cx="112395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Energía Continua y Segura para la Empresa y el Hardware Crítico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3815208"/>
            <a:ext cx="11239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Curso: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dministración de Sistemas Informáticos en Red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Manuel Arrabal Talavera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Fecha: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Marzo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9100" y="1191220"/>
            <a:ext cx="3648075" cy="20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191220"/>
            <a:ext cx="3648075" cy="20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9100" y="3429000"/>
            <a:ext cx="3648075" cy="20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3429000"/>
            <a:ext cx="3648075" cy="204727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524375" y="2223492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Conceptos fundamentales, cálculo de consumo, eficiencia y elección de la fuente ideal.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362950" y="2105620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Deficiencias del suministro: cortes, oscilaciones, picos de tensión y ruido eléctrico.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524375" y="4343400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Topologías Off-Line, Interactivos y On-Line. Comparativa completa de protección.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62950" y="4461271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Innovaciones 2026, guía de compra inteligente, fabricantes líderes y bibliografía.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524375" y="1486495"/>
            <a:ext cx="2438400" cy="59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Fuentes de Alimentación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05650" y="148649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362950" y="1486495"/>
            <a:ext cx="1990725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Fallos Eléctricos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44225" y="148649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4524375" y="3724275"/>
            <a:ext cx="2352675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Tecnología de SAIs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05650" y="3724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362950" y="3724275"/>
            <a:ext cx="2438400" cy="59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Mercado y Tendencias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44225" y="37242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62812" y="1619845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101387" y="1619845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24712" y="385762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77575" y="38576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476250" y="2814637"/>
            <a:ext cx="3540442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AFFD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Índice 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37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Contenidos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990486" y="1985962"/>
            <a:ext cx="8211026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Fuentes de Alimentación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286000" y="3233737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Transformando la energía eléctrica para garantizar la estabilidad del hardware de tu PC.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524500" y="4376737"/>
            <a:ext cx="1143000" cy="1905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5006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52500" y="2329457"/>
            <a:ext cx="4905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Transformación vital: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Pasan la corriente alterna (CA) de 230V a corriente continua (CC) de 3,3V a 12V.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3154263"/>
            <a:ext cx="4905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Tecnología Conmutada: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Los PCs modernos usan fuentes de alta frecuencia, más ligeras que las lineales.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4272408"/>
            <a:ext cx="4905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Eficiencia térmica: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Regulan la potencia entregada según la demanda exacta, reduciendo drásticamente el calor.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4531"/>
            <a:ext cx="53625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234374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31685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4286696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476250" y="381000"/>
            <a:ext cx="11715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Conceptos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Básicos</a:t>
            </a:r>
            <a:r>
              <a:rPr lang="en-US" sz="412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y Tipos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7125" y="1309092"/>
            <a:ext cx="3929062" cy="192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6687" y="1309092"/>
            <a:ext cx="3929062" cy="192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7125" y="3429000"/>
            <a:ext cx="3929062" cy="192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6687" y="3429000"/>
            <a:ext cx="3929062" cy="192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3962400" y="2223492"/>
            <a:ext cx="3338512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procesador y la tarjeta gráfica determinan el consumo base; una GPU puede exigir más de 300W ella sola.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081962" y="2223492"/>
            <a:ext cx="3338512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Aumentar la frecuencia de reloj multiplica la necesidad de potencia eléctrica bruta e incrementa el calor.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3962400" y="4343400"/>
            <a:ext cx="3338512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Mide el consumo real, pero debe descontarse la ineficiencia de la fuente para saber el gasto real del PC.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81962" y="4343400"/>
            <a:ext cx="3338512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 recomienda invertir en alta eficiencia (certificación 80 Plus), cableado modular y mínima sonoridad.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962400" y="1604367"/>
            <a:ext cx="121920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CPU y GPU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24662" y="160436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081962" y="1604367"/>
            <a:ext cx="146685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Overclocking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44225" y="160436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3962400" y="3724275"/>
            <a:ext cx="194310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Uso de Vatímetro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24662" y="3724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081962" y="3724275"/>
            <a:ext cx="169545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La Fuente Ideal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44225" y="37242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43725" y="1737717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77575" y="173771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43725" y="385762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101387" y="3857625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476250" y="2814637"/>
            <a:ext cx="2950368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AFFD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Cálculo 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37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Consumo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952500" y="2797075"/>
            <a:ext cx="10763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Cortes y Microcortes: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Pérdida total de tensión. Provocan pérdida de datos y corrompen discos duros.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3328541"/>
            <a:ext cx="10763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Oscilaciones: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Subidas y bajadas prolongadas. Causan un funcionamiento erróneo en componentes sensibles.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52500" y="3860006"/>
            <a:ext cx="10763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Picos de Tensión: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Elevación extrema en milisegundos. Generan un peligro inminente de destrucción del hardware.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4391471"/>
            <a:ext cx="10763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Armónicos y Parásitos: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Interferencias de radiofrecuencia. Producen calentamiento y fatiga acelerada del equipo.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811363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342828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874293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4405758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476250" y="381000"/>
            <a:ext cx="11715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Deficiencias del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Suministro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238125" y="1581150"/>
            <a:ext cx="11715750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Sistemas de Alimentación Ininterrumpida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2286000" y="363855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Los SAIs (UPS) son la última línea de defensa ante catástrofes de energía, brindando protección continua a los datos.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524500" y="4781550"/>
            <a:ext cx="1143000" cy="1905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7125" y="1429047"/>
            <a:ext cx="3929062" cy="192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6687" y="1429047"/>
            <a:ext cx="3929062" cy="192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67125" y="3548955"/>
            <a:ext cx="8048625" cy="1689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3962400" y="2343447"/>
            <a:ext cx="3338512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inversor solo se activa al detectar el fallo. Económicos, solventan cortes totales pero ofrecen protección mínima.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081962" y="2343447"/>
            <a:ext cx="3338512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Estabilizan digitalmente el voltaje sin usar la batería frente a oscilaciones. Ideales para oficinas y redes inestables.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962400" y="4463355"/>
            <a:ext cx="745807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Aíslan totalmente la carga regenerando la corriente (CA a CC y de nuevo a CA onda pura). Máxima protección ininterrumpida, indispensables para servidores y sistemas críticos.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962400" y="1724322"/>
            <a:ext cx="2200275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Off-Line (Stand-by)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4662" y="172432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8081962" y="1724322"/>
            <a:ext cx="171450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Line Interactive</a:t>
            </a:r>
            <a:endParaRPr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44225" y="172432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3962400" y="3844230"/>
            <a:ext cx="3076575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On-Line (Doble Conversión)</a:t>
            </a:r>
            <a:endParaRPr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44225" y="384423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43725" y="1857672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77575" y="185767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77575" y="397758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76250" y="2814637"/>
            <a:ext cx="2950368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AFFD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Tecnologías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37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476250" y="2293143"/>
            <a:ext cx="11239500" cy="3133725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21"/>
          <p:cNvGraphicFramePr/>
          <p:nvPr>
            <p:extLst>
              <p:ext uri="{D42A27DB-BD31-4B8C-83A1-F6EECF244321}">
                <p14:modId xmlns:p14="http://schemas.microsoft.com/office/powerpoint/2010/main" val="475926480"/>
              </p:ext>
            </p:extLst>
          </p:nvPr>
        </p:nvGraphicFramePr>
        <p:xfrm>
          <a:off x="476250" y="2293143"/>
          <a:ext cx="11239500" cy="3133700"/>
        </p:xfrm>
        <a:graphic>
          <a:graphicData uri="http://schemas.openxmlformats.org/drawingml/2006/table">
            <a:tbl>
              <a:tblPr firstRow="1" bandRow="1">
                <a:noFill/>
                <a:tableStyleId>{70F517DB-86E2-415F-9688-7F36FEA8EA56}</a:tableStyleId>
              </a:tblPr>
              <a:tblGrid>
                <a:gridCol w="192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err="1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Tecnología</a:t>
                      </a:r>
                      <a:r>
                        <a:rPr lang="en-US" sz="1650" b="0" i="0" u="none" strike="noStrike" cap="none" dirty="0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 SAI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Nivel de </a:t>
                      </a:r>
                      <a:r>
                        <a:rPr lang="en-US" sz="1650" b="0" i="0" u="none" strike="noStrike" cap="none" dirty="0" err="1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Coste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Nivel de </a:t>
                      </a:r>
                      <a:r>
                        <a:rPr lang="en-US" sz="1650" b="0" i="0" u="none" strike="noStrike" cap="none" dirty="0" err="1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Protección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err="1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Uso</a:t>
                      </a:r>
                      <a:r>
                        <a:rPr lang="en-US" sz="1650" b="0" i="0" u="none" strike="noStrike" cap="none" dirty="0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 Ideal </a:t>
                      </a:r>
                      <a:r>
                        <a:rPr lang="en-US" sz="1650" b="0" i="0" u="none" strike="noStrike" cap="none" dirty="0" err="1">
                          <a:solidFill>
                            <a:schemeClr val="bg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Recomendado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SAI Off-Line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Bajo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Básico (Solo cortes totales)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Hogares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y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estaciones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trabajo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simples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SAI Interactivo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Medio (Cortes y oscilaciones)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Pequeñas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empresas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redes y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oficinas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SAI On-Line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Máximo (Aislamiento y onda pura)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Servidores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telecomunicaciones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y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misión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crítica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2" name="Google Shape;212;p21"/>
          <p:cNvSpPr/>
          <p:nvPr/>
        </p:nvSpPr>
        <p:spPr>
          <a:xfrm>
            <a:off x="476250" y="3221831"/>
            <a:ext cx="192628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402532" y="3221831"/>
            <a:ext cx="181094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213473" y="3221831"/>
            <a:ext cx="326633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479803" y="3221831"/>
            <a:ext cx="423594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76250" y="3879056"/>
            <a:ext cx="192628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402532" y="3879056"/>
            <a:ext cx="181094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213473" y="3879056"/>
            <a:ext cx="326633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479803" y="3879056"/>
            <a:ext cx="423594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76250" y="4536281"/>
            <a:ext cx="192628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402532" y="4536281"/>
            <a:ext cx="181094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213473" y="4536281"/>
            <a:ext cx="326633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7479803" y="4536281"/>
            <a:ext cx="423594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76250" y="381000"/>
            <a:ext cx="11715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Comparativa de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Topologías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085677"/>
            <a:ext cx="3555950" cy="3548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085677"/>
            <a:ext cx="3555950" cy="3548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085677"/>
            <a:ext cx="3555950" cy="354865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666750" y="4324052"/>
            <a:ext cx="33336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Fuentes ATX 3.1 nativas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66750" y="4724102"/>
            <a:ext cx="31749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Conectores 12V-2x6 que soportan picos inmensos de potencia de las GPUs de última generación.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508450" y="4324052"/>
            <a:ext cx="33336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SAIs de Iones de Litio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508450" y="4724102"/>
            <a:ext cx="31749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Las baterías de litio desplazan al plomo-ácido: pesan menos, cargan rápido y duran hasta 10 años.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350150" y="4324052"/>
            <a:ext cx="33336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Inteligencia IoT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350150" y="4724102"/>
            <a:ext cx="31749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Monitorización 24/7 en la nube desde el móvil y modos ECO dinámicos para ahorrar electricidad.</a:t>
            </a:r>
            <a:endParaRPr/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276177"/>
            <a:ext cx="3174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8450" y="2276177"/>
            <a:ext cx="3174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276177"/>
            <a:ext cx="31749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476250" y="381000"/>
            <a:ext cx="11715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Mercado y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Tendencias</a:t>
            </a:r>
            <a:r>
              <a:rPr lang="en-US" sz="412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9100" y="1250156"/>
            <a:ext cx="3648075" cy="20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250156"/>
            <a:ext cx="3648075" cy="20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29100" y="3487935"/>
            <a:ext cx="3648075" cy="192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7675" y="3487935"/>
            <a:ext cx="3648075" cy="192940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4524375" y="2282428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Para calcular los Voltio-Amperios necesarios, divide el consumo total de tus equipos en Vatios entre 0,7.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362950" y="2282428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Añade siempre al menos un 25% de margen a tu cálculo para absorber picos y permitir futuras ampliaciones.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524375" y="4402335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corazón del SAI es su batería. Valora su vida útil (3 a 10 años) y asegúrate de que sea fácilmente reemplazable.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362950" y="4402335"/>
            <a:ext cx="305752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 indispensable que incluya software de comunicación para guardar datos y apagar el SO automáticamente.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524375" y="1545431"/>
            <a:ext cx="2438400" cy="59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Cálculo de Potencia (VA)</a:t>
            </a:r>
            <a:endParaRPr/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5650" y="154543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8362950" y="1545431"/>
            <a:ext cx="2438400" cy="59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Margen de Seguridad</a:t>
            </a:r>
            <a:endParaRPr/>
          </a:p>
        </p:txBody>
      </p:sp>
      <p:pic>
        <p:nvPicPr>
          <p:cNvPr id="259" name="Google Shape;25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44225" y="154543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4524375" y="3783210"/>
            <a:ext cx="2181225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Calidad de Baterías</a:t>
            </a:r>
            <a:endParaRPr/>
          </a:p>
        </p:txBody>
      </p:sp>
      <p:pic>
        <p:nvPicPr>
          <p:cNvPr id="261" name="Google Shape;26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5650" y="378321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8362950" y="3783210"/>
            <a:ext cx="2257425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Software de Control</a:t>
            </a:r>
            <a:endParaRPr/>
          </a:p>
        </p:txBody>
      </p:sp>
      <p:pic>
        <p:nvPicPr>
          <p:cNvPr id="263" name="Google Shape;26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44225" y="378321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62812" y="1678781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77575" y="167878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39000" y="391656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9000" y="391656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476250" y="2814637"/>
            <a:ext cx="3540442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AFFD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Guía de </a:t>
            </a:r>
            <a:r>
              <a:rPr lang="en-US" sz="337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Compra</a:t>
            </a:r>
            <a:r>
              <a:rPr lang="en-US" sz="3375" b="0" i="0" u="none" strike="noStrike" cap="none">
                <a:solidFill>
                  <a:srgbClr val="DAFFD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SAI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5006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952500" y="2210395"/>
            <a:ext cx="4905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Líderes de Mercado: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APC, Eaton, Salicru, MGE, Chloride y Liebert.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952500" y="3035200"/>
            <a:ext cx="4905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Bibliografía Principal: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Documentos "Fuentes de alimentación y SAI.pdf" y "SAIs.doc".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952500" y="3860006"/>
            <a:ext cx="4905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Calculadora APC: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www.apc.com/shop/es/es/tools/ups_selector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952500" y="4684811"/>
            <a:ext cx="4905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Calculadora Cooler Master: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www.coolermaster.com/power-supply-calculator</a:t>
            </a:r>
            <a:endParaRPr/>
          </a:p>
        </p:txBody>
      </p:sp>
      <p:pic>
        <p:nvPicPr>
          <p:cNvPr id="279" name="Google Shape;27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4531"/>
            <a:ext cx="53625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222468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3049488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87429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469909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476250" y="381000"/>
            <a:ext cx="11715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Fabricantes y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Enlaces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/>
          <p:nvPr/>
        </p:nvSpPr>
        <p:spPr>
          <a:xfrm>
            <a:off x="476250" y="1935956"/>
            <a:ext cx="11239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476250" y="2707481"/>
            <a:ext cx="11239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476250" y="3479006"/>
            <a:ext cx="11239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476250" y="2697956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476250" y="2697956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476250" y="3469481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476250" y="3469481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476250" y="4241006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476250" y="4241006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476250" y="5012531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476250" y="5012531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476250" y="2040016"/>
            <a:ext cx="10144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4F46E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https://www.profesionalreview.com/2020/11/22/errores-elegir-fuente-de-alimentacion/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476250" y="381000"/>
            <a:ext cx="117159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Webgrafía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476250" y="2368979"/>
            <a:ext cx="10144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4F46E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https://www.profesionalreview.com/2020/10/24/proteger-pc-picos-de-tension</a:t>
            </a:r>
            <a:r>
              <a:rPr lang="en-US">
                <a:solidFill>
                  <a:srgbClr val="4F46E5"/>
                </a:solidFill>
              </a:rPr>
              <a:t>/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476250" y="2919216"/>
            <a:ext cx="10144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</a:rPr>
              <a:t>https://www.corsair.com/es/es/s/power-supply-calculator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476250" y="3199104"/>
            <a:ext cx="10144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</a:rPr>
              <a:t>https://es.msi.com/power-supply-calculator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476250" y="3648291"/>
            <a:ext cx="10144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4F46E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https://www.xataka.com/seleccion/mejores-sai-que-como-funcionan-cual-comprar-ocho-sistemas-alimentacion-ininterrumpida-recomendados-39-euros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476250" y="3944641"/>
            <a:ext cx="10144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</a:rPr>
              <a:t>https://www.pccomponentes.com/mejores-sai-segun-su-tipo-y-precio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476250" y="4377366"/>
            <a:ext cx="10144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4F46E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https://www.profesionalreview.com/2020/10/10/como-elegir-un-sai/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476250" y="4694941"/>
            <a:ext cx="10144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</a:rPr>
              <a:t>https://www.tecnozero.com/blog/el-sai-offline-interactivo-online/</a:t>
            </a:r>
            <a:endParaRPr>
              <a:solidFill>
                <a:srgbClr val="4F46E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Panorámica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Urbanist SemiBold</vt:lpstr>
      <vt:lpstr>Urbanist Medium</vt:lpstr>
      <vt:lpstr>Arial</vt:lpstr>
      <vt:lpstr>Urbanist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ASIR1-01</dc:creator>
  <cp:lastModifiedBy>Manu Arrabal Talavera</cp:lastModifiedBy>
  <cp:revision>1</cp:revision>
  <dcterms:modified xsi:type="dcterms:W3CDTF">2026-03-25T12:17:30Z</dcterms:modified>
</cp:coreProperties>
</file>